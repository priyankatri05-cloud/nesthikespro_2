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731520"/>
            <a:ext cx="2926080" cy="2926080"/>
          </a:xfrm>
          <a:prstGeom prst="ellipse">
            <a:avLst/>
          </a:prstGeom>
          <a:solidFill>
            <a:srgbClr val="252B52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1463040"/>
            <a:ext cx="1463040" cy="1463040"/>
          </a:xfrm>
          <a:prstGeom prst="ellipse">
            <a:avLst/>
          </a:prstGeom>
          <a:solidFill>
            <a:srgbClr val="252B52"/>
          </a:solidFill>
          <a:ln/>
        </p:spPr>
      </p:sp>
      <p:sp>
        <p:nvSpPr>
          <p:cNvPr id="5" name="Shape 3"/>
          <p:cNvSpPr/>
          <p:nvPr/>
        </p:nvSpPr>
        <p:spPr>
          <a:xfrm>
            <a:off x="-822960" y="5120640"/>
            <a:ext cx="3108960" cy="3108960"/>
          </a:xfrm>
          <a:prstGeom prst="ellipse">
            <a:avLst/>
          </a:prstGeom>
          <a:solidFill>
            <a:srgbClr val="252B52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6400800"/>
            <a:ext cx="1280160" cy="1280160"/>
          </a:xfrm>
          <a:prstGeom prst="ellipse">
            <a:avLst/>
          </a:prstGeom>
          <a:solidFill>
            <a:srgbClr val="252B5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DESKTOP APPLICATION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Calculator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&amp; Tkinter — sin, cos, tan, square root,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and percentage on top of full arithmetic, with a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dark-themed interface and keyboard input.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709160"/>
            <a:ext cx="566928" cy="566928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11" name="Image 0" descr="icon_calculato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84" y="4833884"/>
            <a:ext cx="317480" cy="317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4754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 × 650 window  ·  Dark UI  ·  6-function scientific keypad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CALCULATOR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project?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scientific calculator built entirely in Python's </a:t>
            </a:r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toolkit. Alongside the four basic operations it adds </a:t>
            </a:r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sine, cosine, tangent, square root, square and percentage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each wired to its own button and function.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is a single </a:t>
            </a:r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tk.Entry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display above a 6×4 button grid, all rendered on a dark gray (</a:t>
            </a:r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#2B2B2B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background. Every arithmetic and scientific action runs through a guarded </a:t>
            </a:r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 that falls back to an "Error" message.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691640"/>
            <a:ext cx="4251960" cy="4480560"/>
          </a:xfrm>
          <a:prstGeom prst="roundRect">
            <a:avLst>
              <a:gd name="adj" fmla="val 258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52400" dist="38100" dir="5400000">
              <a:srgbClr val="1B1F3B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0" y="20116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9" name="Image 0" descr="icon_cpu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3830" y="211455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21040" y="19933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321040" y="22128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680960" y="3035808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13" name="Image 1" descr="icon_lay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830" y="3138678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21040" y="30175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TOOLKIT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321040" y="323697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7680960" y="4059936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17" name="Image 2" descr="icon_binary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830" y="4162806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40416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8321040" y="426110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module + eval()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7680960" y="5084064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21" name="Image 3" descr="icon_targe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830" y="518693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21040" y="506577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SIZE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8321040" y="52852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 × 650 px, fixed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CALCULATOR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can calculate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252B52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929384"/>
            <a:ext cx="548640" cy="54864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7" name="Image 0" descr="icon_sigma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050085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58775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/ cos / tan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2953512"/>
            <a:ext cx="3099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Degree-based trig, converted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math.radians(), rounded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10 decimal places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252B52"/>
          </a:solidFill>
          <a:ln/>
        </p:spPr>
      </p:sp>
      <p:sp>
        <p:nvSpPr>
          <p:cNvPr id="11" name="Shape 8"/>
          <p:cNvSpPr/>
          <p:nvPr/>
        </p:nvSpPr>
        <p:spPr>
          <a:xfrm>
            <a:off x="4599432" y="1929384"/>
            <a:ext cx="548640" cy="54864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12" name="Image 1" descr="icon_binar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133" y="2050085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258775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(√)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99432" y="2953512"/>
            <a:ext cx="3099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math.sqrt() on the current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value; negative input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an error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169164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252B52"/>
          </a:solidFill>
          <a:ln/>
        </p:spPr>
      </p:sp>
      <p:sp>
        <p:nvSpPr>
          <p:cNvPr id="16" name="Shape 12"/>
          <p:cNvSpPr/>
          <p:nvPr/>
        </p:nvSpPr>
        <p:spPr>
          <a:xfrm>
            <a:off x="8394192" y="1929384"/>
            <a:ext cx="548640" cy="54864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17" name="Image 2" descr="icon_mathop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893" y="2050085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258775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(x²)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94192" y="2953512"/>
            <a:ext cx="3099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the current value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power of 2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023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252B52"/>
          </a:solidFill>
          <a:ln/>
        </p:spPr>
      </p:sp>
      <p:sp>
        <p:nvSpPr>
          <p:cNvPr id="21" name="Shape 16"/>
          <p:cNvSpPr/>
          <p:nvPr/>
        </p:nvSpPr>
        <p:spPr>
          <a:xfrm>
            <a:off x="804672" y="4261104"/>
            <a:ext cx="548640" cy="54864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22" name="Image 3" descr="icon_zap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3" y="4381805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4672" y="491947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(%)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04672" y="5285232"/>
            <a:ext cx="3099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the current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by 100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43400" y="4023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252B52"/>
          </a:solidFill>
          <a:ln/>
        </p:spPr>
      </p:sp>
      <p:sp>
        <p:nvSpPr>
          <p:cNvPr id="26" name="Shape 20"/>
          <p:cNvSpPr/>
          <p:nvPr/>
        </p:nvSpPr>
        <p:spPr>
          <a:xfrm>
            <a:off x="4599432" y="4261104"/>
            <a:ext cx="548640" cy="54864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27" name="Image 4" descr="icon_calculator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133" y="4381805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99432" y="491947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arithmetic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599432" y="5285232"/>
            <a:ext cx="3099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+, −, ×, ÷ evaluated with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eval() after symbol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38160" y="4023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252B52"/>
          </a:solidFill>
          <a:ln/>
        </p:spPr>
      </p:sp>
      <p:sp>
        <p:nvSpPr>
          <p:cNvPr id="31" name="Shape 24"/>
          <p:cNvSpPr/>
          <p:nvPr/>
        </p:nvSpPr>
        <p:spPr>
          <a:xfrm>
            <a:off x="8394192" y="4261104"/>
            <a:ext cx="548640" cy="54864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32" name="Image 5" descr="icon_settings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4893" y="4381805"/>
            <a:ext cx="307238" cy="30723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94192" y="491947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&amp; backspace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394192" y="5285232"/>
            <a:ext cx="3099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wipes the display;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⌫ trims the last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typed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CALCULATOR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21792" cy="621792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6" name="Image 0" descr="icon_cod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434" y="1965594"/>
            <a:ext cx="348204" cy="3482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013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15798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logic, event handlers and expression evaluation.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24912"/>
            <a:ext cx="3931920" cy="0"/>
          </a:xfrm>
          <a:prstGeom prst="line">
            <a:avLst/>
          </a:prstGeom>
          <a:noFill/>
          <a:ln w="12700">
            <a:solidFill>
              <a:srgbClr val="DEE0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852928"/>
            <a:ext cx="621792" cy="621792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11" name="Image 1" descr="icon_lay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34" y="2989722"/>
            <a:ext cx="348204" cy="3482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82549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17320" y="318211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Window, Entry display, Frame and Button grid layout.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3931920" cy="0"/>
          </a:xfrm>
          <a:prstGeom prst="line">
            <a:avLst/>
          </a:prstGeom>
          <a:noFill/>
          <a:ln w="12700">
            <a:solidFill>
              <a:srgbClr val="DEE0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3877056"/>
            <a:ext cx="621792" cy="621792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16" name="Image 2" descr="icon_mathop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" y="4013850"/>
            <a:ext cx="348204" cy="3482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84962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module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17320" y="42062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sqrt(), sin(), cos(), tan() and radians() for trig conversion.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773168"/>
            <a:ext cx="3931920" cy="0"/>
          </a:xfrm>
          <a:prstGeom prst="line">
            <a:avLst/>
          </a:prstGeom>
          <a:noFill/>
          <a:ln w="12700">
            <a:solidFill>
              <a:srgbClr val="DEE0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" y="4901184"/>
            <a:ext cx="621792" cy="621792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21" name="Image 3" descr="icon_targe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34" y="5037978"/>
            <a:ext cx="348204" cy="3482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8737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eval()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417320" y="523036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built expression after × and ÷ are swapped to * and /.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074920" y="1783080"/>
            <a:ext cx="6537960" cy="4343400"/>
          </a:xfrm>
          <a:prstGeom prst="roundRect">
            <a:avLst>
              <a:gd name="adj" fmla="val 2526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52400" dist="38100" dir="5400000">
              <a:srgbClr val="1B1F3B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349240" y="201168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0"/>
          <p:cNvSpPr/>
          <p:nvPr/>
        </p:nvSpPr>
        <p:spPr>
          <a:xfrm>
            <a:off x="5577840" y="201168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1"/>
          <p:cNvSpPr/>
          <p:nvPr/>
        </p:nvSpPr>
        <p:spPr>
          <a:xfrm>
            <a:off x="5806440" y="201168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2"/>
          <p:cNvSpPr/>
          <p:nvPr/>
        </p:nvSpPr>
        <p:spPr>
          <a:xfrm>
            <a:off x="5394960" y="2377440"/>
            <a:ext cx="5943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D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sine():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D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D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number = float(display.get())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D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math.sin(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D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math.radians(number))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D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round(result, 10)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D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display.delete(0, tk.END)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D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display.insert(0, result)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D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D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display.delete(0, tk.END)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D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display.insert(0, "Error")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CALCULATOR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keypress to result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194560" y="3108960"/>
            <a:ext cx="7799832" cy="0"/>
          </a:xfrm>
          <a:prstGeom prst="line">
            <a:avLst/>
          </a:prstGeom>
          <a:noFill/>
          <a:ln w="38100">
            <a:solidFill>
              <a:srgbClr val="DE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57AA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42416" y="2532888"/>
            <a:ext cx="566928" cy="566928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8" name="Image 0" descr="icon_targe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7140" y="2657612"/>
            <a:ext cx="317480" cy="317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53896" y="2459736"/>
            <a:ext cx="329184" cy="329184"/>
          </a:xfrm>
          <a:prstGeom prst="ellipse">
            <a:avLst/>
          </a:prstGeom>
          <a:solidFill>
            <a:srgbClr val="F4F5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0352" y="3172968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5488" y="3447288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button_click() inserts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into the Entry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841498" y="233172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57AA8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26714" y="2532888"/>
            <a:ext cx="566928" cy="566928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14" name="Image 1" descr="icon_lay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438" y="2657612"/>
            <a:ext cx="317480" cy="317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38194" y="2459736"/>
            <a:ext cx="329184" cy="329184"/>
          </a:xfrm>
          <a:prstGeom prst="ellipse">
            <a:avLst/>
          </a:prstGeom>
          <a:solidFill>
            <a:srgbClr val="F4F5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914650" y="3172968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expression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859786" y="3447288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and operators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on display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225796" y="233172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57AA8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11012" y="2532888"/>
            <a:ext cx="566928" cy="566928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20" name="Image 2" descr="icon_binary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736" y="2657612"/>
            <a:ext cx="317480" cy="317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22492" y="2459736"/>
            <a:ext cx="329184" cy="329184"/>
          </a:xfrm>
          <a:prstGeom prst="ellipse">
            <a:avLst/>
          </a:prstGeom>
          <a:solidFill>
            <a:srgbClr val="F4F5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298948" y="3172968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symbols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244084" y="3447288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and  ÷  swapped for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 *  and  /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610094" y="233172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57AA8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195310" y="2532888"/>
            <a:ext cx="566928" cy="566928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26" name="Image 3" descr="icon_mathop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0034" y="2657612"/>
            <a:ext cx="317480" cy="317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606790" y="2459736"/>
            <a:ext cx="329184" cy="329184"/>
          </a:xfrm>
          <a:prstGeom prst="ellipse">
            <a:avLst/>
          </a:prstGeom>
          <a:solidFill>
            <a:srgbClr val="F4F5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683246" y="3172968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628382" y="3447288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calculate() runs eval(),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scientific function runs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9994392" y="233172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57AA8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10579608" y="2532888"/>
            <a:ext cx="566928" cy="566928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32" name="Image 4" descr="icon_zap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4332" y="2657612"/>
            <a:ext cx="317480" cy="317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991088" y="2459736"/>
            <a:ext cx="329184" cy="329184"/>
          </a:xfrm>
          <a:prstGeom prst="ellipse">
            <a:avLst/>
          </a:prstGeom>
          <a:solidFill>
            <a:srgbClr val="F4F5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0067544" y="3172968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10012680" y="3447288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replaces the entry,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"Error" on failure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scientific function is wrapped in its own try/except — an invalid input (like a negative square root) shows “Error” instead of crashing the app.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CALCULATOR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 layout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2039112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562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gray window (#2B2B2B) with a lighter entry display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660904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7802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row (sin, cos, tan, √) sits at the very top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28269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9981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x², %, C and ⌫ form a second control row below 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904488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2160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4×4 numeric and operator keypad underneath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526280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3434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Clear button's text is tinted orange (#FF9500)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325880"/>
            <a:ext cx="3291840" cy="5120640"/>
          </a:xfrm>
          <a:prstGeom prst="roundRect">
            <a:avLst>
              <a:gd name="adj" fmla="val 4167"/>
            </a:avLst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9328" y="1600200"/>
            <a:ext cx="2889504" cy="777240"/>
          </a:xfrm>
          <a:prstGeom prst="roundRect">
            <a:avLst>
              <a:gd name="adj" fmla="val 7059"/>
            </a:avLst>
          </a:prstGeom>
          <a:solidFill>
            <a:srgbClr val="3A3A3A"/>
          </a:solidFill>
          <a:ln/>
        </p:spPr>
      </p:sp>
      <p:sp>
        <p:nvSpPr>
          <p:cNvPr id="17" name="Text 15"/>
          <p:cNvSpPr/>
          <p:nvPr/>
        </p:nvSpPr>
        <p:spPr>
          <a:xfrm>
            <a:off x="8430768" y="1600200"/>
            <a:ext cx="27066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339328" y="2514600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8339328" y="2514600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79992" y="2514600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9079992" y="2514600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820656" y="2514600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9820656" y="2514600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561320" y="2514600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10561320" y="2514600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339328" y="3090672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8339328" y="3090672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079992" y="3090672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9079992" y="3090672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820656" y="3090672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9820656" y="3090672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561320" y="3090672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10561320" y="3090672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⌫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39328" y="3666744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8339328" y="3666744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079992" y="3666744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9079992" y="3666744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820656" y="3666744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9820656" y="3666744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561320" y="3666744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10561320" y="3666744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339328" y="4242816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8339328" y="4242816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079992" y="4242816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9079992" y="4242816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820656" y="4242816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47" name="Text 45"/>
          <p:cNvSpPr/>
          <p:nvPr/>
        </p:nvSpPr>
        <p:spPr>
          <a:xfrm>
            <a:off x="9820656" y="4242816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10561320" y="4242816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10561320" y="4242816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339328" y="4818888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51" name="Text 49"/>
          <p:cNvSpPr/>
          <p:nvPr/>
        </p:nvSpPr>
        <p:spPr>
          <a:xfrm>
            <a:off x="8339328" y="4818888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9079992" y="4818888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53" name="Text 51"/>
          <p:cNvSpPr/>
          <p:nvPr/>
        </p:nvSpPr>
        <p:spPr>
          <a:xfrm>
            <a:off x="9079992" y="4818888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820656" y="4818888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55" name="Text 53"/>
          <p:cNvSpPr/>
          <p:nvPr/>
        </p:nvSpPr>
        <p:spPr>
          <a:xfrm>
            <a:off x="9820656" y="4818888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10561320" y="4818888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57" name="Text 55"/>
          <p:cNvSpPr/>
          <p:nvPr/>
        </p:nvSpPr>
        <p:spPr>
          <a:xfrm>
            <a:off x="10561320" y="4818888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339328" y="5394960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59" name="Text 57"/>
          <p:cNvSpPr/>
          <p:nvPr/>
        </p:nvSpPr>
        <p:spPr>
          <a:xfrm>
            <a:off x="8339328" y="5394960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9079992" y="5394960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61" name="Text 59"/>
          <p:cNvSpPr/>
          <p:nvPr/>
        </p:nvSpPr>
        <p:spPr>
          <a:xfrm>
            <a:off x="9079992" y="5394960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9820656" y="5394960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63" name="Text 61"/>
          <p:cNvSpPr/>
          <p:nvPr/>
        </p:nvSpPr>
        <p:spPr>
          <a:xfrm>
            <a:off x="9820656" y="5394960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10561320" y="5394960"/>
            <a:ext cx="667512" cy="502920"/>
          </a:xfrm>
          <a:prstGeom prst="roundRect">
            <a:avLst>
              <a:gd name="adj" fmla="val 10909"/>
            </a:avLst>
          </a:prstGeom>
          <a:solidFill>
            <a:srgbClr val="444444"/>
          </a:solidFill>
          <a:ln/>
        </p:spPr>
      </p:sp>
      <p:sp>
        <p:nvSpPr>
          <p:cNvPr id="65" name="Text 63"/>
          <p:cNvSpPr/>
          <p:nvPr/>
        </p:nvSpPr>
        <p:spPr>
          <a:xfrm>
            <a:off x="10561320" y="5394960"/>
            <a:ext cx="667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CALCULATOR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57AA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29968"/>
            <a:ext cx="548640" cy="54864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7" name="Image 0" descr="icon_za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50669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4767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is guarded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97680" y="1947672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calculate() and all six scientific functions run inside their own try/except, always falling back to an “Error” display.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916936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57AA8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072384"/>
            <a:ext cx="548640" cy="54864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12" name="Image 1" descr="icon_targe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193085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99008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rejects negatives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297680" y="2990088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square_root() explicitly raises when the input is below zero, instead of letting Python throw an unrelated error.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959352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57AA8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17" name="Image 2" descr="icon_binary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23550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03250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 checks for undefined angles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297680" y="4032504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tangent() tests whether the angle is within a tiny tolerance of 90° + 180n before calling math.tan().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5001768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57AA8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5157216"/>
            <a:ext cx="548640" cy="548640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22" name="Image 3" descr="icon_setting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277917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50749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re-entry after an error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297680" y="50749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“Error” is written straight into the Entry, pressing any key naturally continues from a cleared-feeling state.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CALCULATOR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Keyboard support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</a:t>
            </a:r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root.bind("&lt;Key&gt;", keyboard_input)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handler covers typed digits, decimal point and the four arithmetic operators, translating </a:t>
            </a:r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calculator's own × and ÷ symbols.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1B1F3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9748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0-9  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971800" y="269748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digit or decimal point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00984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1B1F3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0098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-  *  /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71800" y="3300984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operator (* → ×, / → ÷)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04488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1B1F3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0448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71800" y="390448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calculate()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07992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0799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Backspace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71800" y="4507992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last character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111496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1B1F3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11149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Escape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971800" y="511149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display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8064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scientific functions (sin, cos, tan, √, x², %) are mouse/click-only in the current build — they have no keyboard shortcut yet.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CALCULATOR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could go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84832"/>
            <a:ext cx="530352" cy="530352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7" name="Image 0" descr="icon_lay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637" y="2201509"/>
            <a:ext cx="296997" cy="2969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743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history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1821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Scrollable log of past expressions and results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8288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084832"/>
            <a:ext cx="530352" cy="530352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12" name="Image 1" descr="icon_binar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397" y="2201509"/>
            <a:ext cx="296997" cy="29699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743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trig &amp; logs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617720" y="31821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asin/acos/atan, log10 and ln alongside sin/cos/tan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18288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12480" y="2084832"/>
            <a:ext cx="530352" cy="530352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17" name="Image 2" descr="icon_brai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157" y="2201509"/>
            <a:ext cx="296997" cy="29699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2743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functions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412480" y="31821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M+, M-, MR and MC for stored values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023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4279392"/>
            <a:ext cx="530352" cy="530352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22" name="Image 3" descr="icon_setting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637" y="4396069"/>
            <a:ext cx="296997" cy="29699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960" y="4937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shortcuts for scientific keys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22960" y="537667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sin/cos/tan/√/x²/% to key combos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43400" y="4023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17720" y="4279392"/>
            <a:ext cx="530352" cy="530352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27" name="Image 4" descr="icon_targe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397" y="4396069"/>
            <a:ext cx="296997" cy="29699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17720" y="4937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/ radian toggle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617720" y="537667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switch instead of a fixed degree mode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8160" y="4023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412480" y="4279392"/>
            <a:ext cx="530352" cy="530352"/>
          </a:xfrm>
          <a:prstGeom prst="ellipse">
            <a:avLst/>
          </a:prstGeom>
          <a:solidFill>
            <a:srgbClr val="FF8A3D"/>
          </a:solidFill>
          <a:ln/>
        </p:spPr>
      </p:sp>
      <p:pic>
        <p:nvPicPr>
          <p:cNvPr id="32" name="Image 5" descr="icon_cod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9157" y="4396069"/>
            <a:ext cx="296997" cy="29699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412480" y="4937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executable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412480" y="537667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as a standalone .exe / .app with PyInstaller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CALCULATOR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solidFill>
            <a:srgbClr val="252B52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937760"/>
            <a:ext cx="2926080" cy="2926080"/>
          </a:xfrm>
          <a:prstGeom prst="ellipse">
            <a:avLst/>
          </a:prstGeom>
          <a:solidFill>
            <a:srgbClr val="252B5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compact, complete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calculator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C7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six dedicated scientific functions, guarded error handling and a keyboard-friendly interface, this Tkinter application delivers a genuinely usable calculator in a single Python file — no external dependencies required.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5577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SCI. FUNCTIONS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54680" y="5074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154680" y="5577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0" y="5074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86400" y="5577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B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7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CALCULATOR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2026-08-20T08:37:30Z</dcterms:created>
  <dcterms:modified xsi:type="dcterms:W3CDTF">2026-08-20T08:37:30Z</dcterms:modified>
</cp:coreProperties>
</file>